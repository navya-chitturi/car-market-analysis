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5"/>
  </p:notesMasterIdLst>
  <p:handoutMasterIdLst>
    <p:handoutMasterId r:id="rId16"/>
  </p:handoutMasterIdLst>
  <p:sldIdLst>
    <p:sldId id="338" r:id="rId5"/>
    <p:sldId id="327" r:id="rId6"/>
    <p:sldId id="315" r:id="rId7"/>
    <p:sldId id="329" r:id="rId8"/>
    <p:sldId id="302" r:id="rId9"/>
    <p:sldId id="339" r:id="rId10"/>
    <p:sldId id="340" r:id="rId11"/>
    <p:sldId id="341" r:id="rId12"/>
    <p:sldId id="343" r:id="rId13"/>
    <p:sldId id="30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4" d="100"/>
          <a:sy n="74" d="100"/>
        </p:scale>
        <p:origin x="296"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8/29/2026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8/29/2026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8/29/2026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8/29/2026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8/29/2026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navya-chitturi/car-market-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navya-chitturi/car-market-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navya-chitturi/car-market-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navya-chitturi/car-market-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lstStyle/>
          <a:p>
            <a:pPr algn="ctr"/>
            <a:r>
              <a:rPr lang="en-US" b="0" dirty="0">
                <a:solidFill>
                  <a:schemeClr val="tx1"/>
                </a:solidFill>
              </a:rPr>
              <a:t>Chitturi Navya</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641676" y="2122097"/>
            <a:ext cx="4563373" cy="923330"/>
          </a:xfrm>
        </p:spPr>
        <p:txBody>
          <a:bodyPr>
            <a:normAutofit fontScale="90000"/>
          </a:bodyPr>
          <a:lstStyle/>
          <a:p>
            <a:pPr algn="r"/>
            <a:r>
              <a:rPr lang="en-GB" sz="3200" dirty="0"/>
              <a:t>Project Title - </a:t>
            </a:r>
            <a:r>
              <a:rPr lang="en-US" sz="3200" dirty="0"/>
              <a:t>Car Market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814204" y="3226280"/>
            <a:ext cx="4192437" cy="646331"/>
          </a:xfrm>
          <a:prstGeom prst="rect">
            <a:avLst/>
          </a:prstGeom>
          <a:noFill/>
        </p:spPr>
        <p:txBody>
          <a:bodyPr wrap="square" rtlCol="0">
            <a:spAutoFit/>
          </a:bodyPr>
          <a:lstStyle/>
          <a:p>
            <a:r>
              <a:rPr lang="en-US" b="1" dirty="0"/>
              <a:t>AICTE STU ID : </a:t>
            </a:r>
            <a:r>
              <a:rPr lang="en-US" dirty="0"/>
              <a:t>STU6a606dac51ad41784704428</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7105482" cy="3990406"/>
          </a:xfrm>
        </p:spPr>
        <p:txBody>
          <a:bodyPr>
            <a:noAutofit/>
          </a:bodyPr>
          <a:lstStyle/>
          <a:p>
            <a:pPr algn="just"/>
            <a:r>
              <a:rPr lang="en-US" sz="3200" baseline="-25000" dirty="0"/>
              <a:t>It is difficult to understand which factors have the greatest impact on a car's selling price.</a:t>
            </a:r>
          </a:p>
          <a:p>
            <a:pPr algn="just"/>
            <a:r>
              <a:rPr lang="en-US" sz="3200" baseline="-25000" dirty="0"/>
              <a:t> Buyers and sellers need data-driven insights to evaluate a vehicle's fair market value.</a:t>
            </a:r>
          </a:p>
          <a:p>
            <a:pPr algn="just"/>
            <a:r>
              <a:rPr lang="en-US" sz="3200" baseline="-25000" dirty="0"/>
              <a:t>This project analyzes historical Car Dekho data to identify important market trends and pricing patterns.</a:t>
            </a:r>
          </a:p>
          <a:p>
            <a:pPr algn="just"/>
            <a:r>
              <a:rPr lang="en-US" sz="3200" baseline="-25000" dirty="0"/>
              <a:t> The goal is to provide meaningful insights that support better buying, selling, and pricing decisions.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7FE33B8F-EC21-2D1B-F0F7-DC2E39512BA4}"/>
              </a:ext>
            </a:extLst>
          </p:cNvPr>
          <p:cNvSpPr txBox="1"/>
          <p:nvPr/>
        </p:nvSpPr>
        <p:spPr>
          <a:xfrm>
            <a:off x="819509" y="1958195"/>
            <a:ext cx="8704053" cy="3785652"/>
          </a:xfrm>
          <a:prstGeom prst="rect">
            <a:avLst/>
          </a:prstGeom>
          <a:noFill/>
        </p:spPr>
        <p:txBody>
          <a:bodyPr wrap="square" rtlCol="0">
            <a:spAutoFit/>
          </a:bodyPr>
          <a:lstStyle/>
          <a:p>
            <a:pPr algn="just"/>
            <a:r>
              <a:rPr lang="en-US" sz="2400" dirty="0">
                <a:latin typeface="Aptos Display" panose="020B0004020202020204" pitchFamily="34" charset="0"/>
              </a:rPr>
              <a:t>This project focuses on analyzing Car Dekho used-car data using Python, data analysis, and visualization techniques. The dataset contains information such as car name, manufacturing year, selling price, present price, kilometers driven, fuel type, seller type, transmission, and number of previous owners.</a:t>
            </a:r>
          </a:p>
          <a:p>
            <a:pPr algn="just"/>
            <a:endParaRPr lang="en-US" sz="2400" dirty="0">
              <a:latin typeface="Aptos Display" panose="020B0004020202020204" pitchFamily="34" charset="0"/>
            </a:endParaRPr>
          </a:p>
          <a:p>
            <a:pPr algn="just"/>
            <a:r>
              <a:rPr lang="en-US" sz="2400" dirty="0">
                <a:latin typeface="Aptos Display" panose="020B0004020202020204" pitchFamily="34" charset="0"/>
              </a:rPr>
              <a:t>The analysis explores relationships between these variables and identifies important factors associated with used-car selling prices. The results help stakeholders understand pricing patterns and make informed decisions.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marL="742950" indent="-742950">
              <a:buFont typeface="+mj-lt"/>
              <a:buAutoNum type="arabicPeriod"/>
            </a:pPr>
            <a:r>
              <a:rPr lang="en-US" sz="3600" b="1" dirty="0"/>
              <a:t>Car Buyers</a:t>
            </a:r>
            <a:br>
              <a:rPr lang="en-US" sz="3600" dirty="0"/>
            </a:br>
            <a:r>
              <a:rPr lang="en-US" sz="3600" dirty="0"/>
              <a:t>Compare cars and identify reasonable prices.</a:t>
            </a:r>
          </a:p>
          <a:p>
            <a:pPr marL="742950" indent="-742950">
              <a:buFont typeface="+mj-lt"/>
              <a:buAutoNum type="arabicPeriod"/>
            </a:pPr>
            <a:r>
              <a:rPr lang="en-US" sz="3600" b="1" dirty="0"/>
              <a:t>Car Sellers</a:t>
            </a:r>
            <a:br>
              <a:rPr lang="en-US" sz="3600" dirty="0"/>
            </a:br>
            <a:r>
              <a:rPr lang="en-US" sz="3600" dirty="0"/>
              <a:t>Estimate competitive selling prices.</a:t>
            </a:r>
          </a:p>
          <a:p>
            <a:pPr marL="742950" indent="-742950">
              <a:buFont typeface="+mj-lt"/>
              <a:buAutoNum type="arabicPeriod"/>
            </a:pPr>
            <a:r>
              <a:rPr lang="en-US" sz="3600" b="1" dirty="0"/>
              <a:t>Car Dealers</a:t>
            </a:r>
            <a:br>
              <a:rPr lang="en-US" sz="3600" dirty="0"/>
            </a:br>
            <a:r>
              <a:rPr lang="en-US" sz="3600" dirty="0"/>
              <a:t>Understand demand and pricing trends.</a:t>
            </a:r>
          </a:p>
          <a:p>
            <a:pPr marL="742950" indent="-742950">
              <a:buFont typeface="+mj-lt"/>
              <a:buAutoNum type="arabicPeriod"/>
            </a:pPr>
            <a:r>
              <a:rPr lang="en-US" sz="3600" b="1" dirty="0"/>
              <a:t>Used-Car Businesses</a:t>
            </a:r>
            <a:br>
              <a:rPr lang="en-US" sz="3600" dirty="0"/>
            </a:br>
            <a:r>
              <a:rPr lang="en-US" sz="3600" dirty="0"/>
              <a:t>Support inventory and pricing decisions.</a:t>
            </a:r>
          </a:p>
          <a:p>
            <a:pPr marL="742950" indent="-742950">
              <a:buFont typeface="+mj-lt"/>
              <a:buAutoNum type="arabicPeriod"/>
            </a:pPr>
            <a:r>
              <a:rPr lang="en-US" sz="3600" b="1" dirty="0"/>
              <a:t>Data Analysts / Business Teams</a:t>
            </a:r>
            <a:br>
              <a:rPr lang="en-US" sz="3600" dirty="0"/>
            </a:br>
            <a:r>
              <a:rPr lang="en-US" sz="3600" dirty="0"/>
              <a:t>Derive insights from automobile market data.</a:t>
            </a:r>
          </a:p>
          <a:p>
            <a:pPr marL="742950" indent="-742950" algn="just">
              <a:lnSpc>
                <a:spcPct val="150000"/>
              </a:lnSpc>
              <a:buFont typeface="+mj-lt"/>
              <a:buAutoNum type="arabicPeriod"/>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a:bodyPr>
          <a:lstStyle/>
          <a:p>
            <a:pPr lvl="1">
              <a:lnSpc>
                <a:spcPct val="150000"/>
              </a:lnSpc>
            </a:pPr>
            <a:r>
              <a:rPr lang="en-IN" sz="2400" dirty="0"/>
              <a:t>Python</a:t>
            </a:r>
          </a:p>
          <a:p>
            <a:pPr lvl="1">
              <a:lnSpc>
                <a:spcPct val="150000"/>
              </a:lnSpc>
            </a:pPr>
            <a:r>
              <a:rPr lang="en-IN" sz="2400" dirty="0"/>
              <a:t>Pandas</a:t>
            </a:r>
          </a:p>
          <a:p>
            <a:pPr lvl="1">
              <a:lnSpc>
                <a:spcPct val="150000"/>
              </a:lnSpc>
            </a:pPr>
            <a:r>
              <a:rPr lang="en-IN" sz="2400" dirty="0"/>
              <a:t>NumPy</a:t>
            </a:r>
          </a:p>
          <a:p>
            <a:pPr lvl="1">
              <a:lnSpc>
                <a:spcPct val="150000"/>
              </a:lnSpc>
            </a:pPr>
            <a:r>
              <a:rPr lang="en-IN" sz="2400" dirty="0"/>
              <a:t>Matplotlib</a:t>
            </a:r>
          </a:p>
          <a:p>
            <a:pPr lvl="1">
              <a:lnSpc>
                <a:spcPct val="150000"/>
              </a:lnSpc>
            </a:pPr>
            <a:r>
              <a:rPr lang="en-IN" sz="2400" dirty="0"/>
              <a:t>Seaborn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8769968" cy="830997"/>
          </a:xfrm>
        </p:spPr>
        <p:txBody>
          <a:bodyPr>
            <a:normAutofit/>
          </a:bodyPr>
          <a:lstStyle/>
          <a:p>
            <a:r>
              <a:rPr lang="en-US" sz="4000" dirty="0"/>
              <a:t>RESULTS – PRICE ANALYSIS</a:t>
            </a:r>
            <a:endParaRPr lang="en-IN" sz="40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75957" y="4916551"/>
            <a:ext cx="4275138" cy="477520"/>
          </a:xfrm>
        </p:spPr>
        <p:txBody>
          <a:bodyPr>
            <a:noAutofit/>
          </a:bodyPr>
          <a:lstStyle/>
          <a:p>
            <a:pPr marL="0" indent="0" algn="just">
              <a:buNone/>
            </a:pPr>
            <a:r>
              <a:rPr lang="en-US" sz="1600" dirty="0"/>
              <a:t>Most cars are sold at relatively lower prices, with a small number of high-priced cars.</a:t>
            </a:r>
            <a:endParaRPr lang="en-IN" sz="1600" dirty="0"/>
          </a:p>
        </p:txBody>
      </p:sp>
      <p:pic>
        <p:nvPicPr>
          <p:cNvPr id="3" name="Picture 2" descr="The diagram illustrates the distribution of used car selling prices, showing the number of cars sold at different price points, with price categories ranging from 0 to 35 lakhs.&#10;&#10;AI-generated content may be incorrect.">
            <a:extLst>
              <a:ext uri="{FF2B5EF4-FFF2-40B4-BE49-F238E27FC236}">
                <a16:creationId xmlns:a16="http://schemas.microsoft.com/office/drawing/2014/main" id="{CDCB61F7-F66D-1A3B-00B7-947ACA10599C}"/>
              </a:ext>
            </a:extLst>
          </p:cNvPr>
          <p:cNvPicPr>
            <a:picLocks noChangeAspect="1"/>
          </p:cNvPicPr>
          <p:nvPr/>
        </p:nvPicPr>
        <p:blipFill>
          <a:blip r:embed="rId4"/>
          <a:stretch>
            <a:fillRect/>
          </a:stretch>
        </p:blipFill>
        <p:spPr>
          <a:xfrm>
            <a:off x="823141" y="1576062"/>
            <a:ext cx="3766112" cy="2966013"/>
          </a:xfrm>
          <a:prstGeom prst="rect">
            <a:avLst/>
          </a:prstGeom>
        </p:spPr>
      </p:pic>
      <p:pic>
        <p:nvPicPr>
          <p:cNvPr id="11" name="Picture 10" descr="The diagram shows a scatter plot comparing the present price and selling price of an asset, with a clear upward trend indicating higher present prices correspond to higher selling prices.&#10;&#10;AI-generated content may be incorrect.">
            <a:extLst>
              <a:ext uri="{FF2B5EF4-FFF2-40B4-BE49-F238E27FC236}">
                <a16:creationId xmlns:a16="http://schemas.microsoft.com/office/drawing/2014/main" id="{B2D27688-D8B7-298E-F008-3E22696E690D}"/>
              </a:ext>
            </a:extLst>
          </p:cNvPr>
          <p:cNvPicPr>
            <a:picLocks noChangeAspect="1"/>
          </p:cNvPicPr>
          <p:nvPr/>
        </p:nvPicPr>
        <p:blipFill>
          <a:blip r:embed="rId5"/>
          <a:stretch>
            <a:fillRect/>
          </a:stretch>
        </p:blipFill>
        <p:spPr>
          <a:xfrm>
            <a:off x="5495445" y="1505471"/>
            <a:ext cx="3555245" cy="3138161"/>
          </a:xfrm>
          <a:prstGeom prst="rect">
            <a:avLst/>
          </a:prstGeom>
        </p:spPr>
      </p:pic>
      <p:sp>
        <p:nvSpPr>
          <p:cNvPr id="14" name="TextBox 13">
            <a:extLst>
              <a:ext uri="{FF2B5EF4-FFF2-40B4-BE49-F238E27FC236}">
                <a16:creationId xmlns:a16="http://schemas.microsoft.com/office/drawing/2014/main" id="{C0FC1444-FABD-91A9-15F7-D96F8BDB9C67}"/>
              </a:ext>
            </a:extLst>
          </p:cNvPr>
          <p:cNvSpPr txBox="1"/>
          <p:nvPr/>
        </p:nvSpPr>
        <p:spPr>
          <a:xfrm>
            <a:off x="5581586" y="4906252"/>
            <a:ext cx="4215338" cy="523220"/>
          </a:xfrm>
          <a:prstGeom prst="rect">
            <a:avLst/>
          </a:prstGeom>
          <a:noFill/>
        </p:spPr>
        <p:txBody>
          <a:bodyPr wrap="square" rtlCol="0">
            <a:spAutoFit/>
          </a:bodyPr>
          <a:lstStyle/>
          <a:p>
            <a:pPr algn="just"/>
            <a:r>
              <a:rPr lang="en-US" sz="1400" dirty="0"/>
              <a:t>Present Price has a strong positive relationship with Selling Price (</a:t>
            </a:r>
            <a:r>
              <a:rPr lang="en-US" sz="1400" b="1" dirty="0"/>
              <a:t>correlation = 0.876</a:t>
            </a:r>
            <a:r>
              <a:rPr lang="en-US" sz="1400" dirty="0"/>
              <a:t>).</a:t>
            </a:r>
          </a:p>
        </p:txBody>
      </p:sp>
      <p:sp>
        <p:nvSpPr>
          <p:cNvPr id="17" name="TextBox 16">
            <a:extLst>
              <a:ext uri="{FF2B5EF4-FFF2-40B4-BE49-F238E27FC236}">
                <a16:creationId xmlns:a16="http://schemas.microsoft.com/office/drawing/2014/main" id="{D8B5A7E8-5D62-36D7-F30B-58FD3C95C77E}"/>
              </a:ext>
            </a:extLst>
          </p:cNvPr>
          <p:cNvSpPr txBox="1"/>
          <p:nvPr/>
        </p:nvSpPr>
        <p:spPr>
          <a:xfrm>
            <a:off x="940829" y="1135721"/>
            <a:ext cx="3209027" cy="338554"/>
          </a:xfrm>
          <a:prstGeom prst="rect">
            <a:avLst/>
          </a:prstGeom>
          <a:noFill/>
        </p:spPr>
        <p:txBody>
          <a:bodyPr wrap="square" rtlCol="0">
            <a:spAutoFit/>
          </a:bodyPr>
          <a:lstStyle/>
          <a:p>
            <a:pPr algn="ctr"/>
            <a:r>
              <a:rPr lang="en-US" sz="1600" dirty="0"/>
              <a:t>Selling Price Distribution                             </a:t>
            </a:r>
          </a:p>
        </p:txBody>
      </p:sp>
      <p:sp>
        <p:nvSpPr>
          <p:cNvPr id="18" name="TextBox 17">
            <a:extLst>
              <a:ext uri="{FF2B5EF4-FFF2-40B4-BE49-F238E27FC236}">
                <a16:creationId xmlns:a16="http://schemas.microsoft.com/office/drawing/2014/main" id="{50FD195F-DB1D-2037-6E68-5A489B4078BC}"/>
              </a:ext>
            </a:extLst>
          </p:cNvPr>
          <p:cNvSpPr txBox="1"/>
          <p:nvPr/>
        </p:nvSpPr>
        <p:spPr>
          <a:xfrm>
            <a:off x="5402868" y="1135721"/>
            <a:ext cx="3735237" cy="338554"/>
          </a:xfrm>
          <a:prstGeom prst="rect">
            <a:avLst/>
          </a:prstGeom>
          <a:noFill/>
        </p:spPr>
        <p:txBody>
          <a:bodyPr wrap="square" rtlCol="0">
            <a:spAutoFit/>
          </a:bodyPr>
          <a:lstStyle/>
          <a:p>
            <a:pPr algn="ctr"/>
            <a:r>
              <a:rPr lang="en-US" sz="1600" dirty="0"/>
              <a:t>Present Price vs Selling Price </a:t>
            </a:r>
            <a:endParaRPr lang="en-US" sz="20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9002881" cy="830997"/>
          </a:xfrm>
        </p:spPr>
        <p:txBody>
          <a:bodyPr>
            <a:normAutofit fontScale="90000"/>
          </a:bodyPr>
          <a:lstStyle/>
          <a:p>
            <a:r>
              <a:rPr lang="en-GB" dirty="0"/>
              <a:t>RESULTS - </a:t>
            </a:r>
            <a:r>
              <a:rPr lang="en-US" dirty="0"/>
              <a:t>Fuel &amp; Seller Analysis</a:t>
            </a:r>
            <a:r>
              <a:rPr lang="en-GB" dirty="0"/>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9B4A24F-1958-1EAC-4E97-0F4035F895C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31845" y="1265188"/>
            <a:ext cx="3343561" cy="477520"/>
          </a:xfrm>
        </p:spPr>
        <p:txBody>
          <a:bodyPr>
            <a:normAutofit/>
          </a:bodyPr>
          <a:lstStyle/>
          <a:p>
            <a:pPr marL="0" indent="0" algn="ctr">
              <a:buNone/>
            </a:pPr>
            <a:r>
              <a:rPr lang="en-US" sz="1800" dirty="0"/>
              <a:t>Fuel Type vs Selling Price</a:t>
            </a:r>
            <a:endParaRPr lang="en-IN" sz="1800" dirty="0"/>
          </a:p>
        </p:txBody>
      </p:sp>
      <p:sp>
        <p:nvSpPr>
          <p:cNvPr id="2" name="TextBox 1">
            <a:extLst>
              <a:ext uri="{FF2B5EF4-FFF2-40B4-BE49-F238E27FC236}">
                <a16:creationId xmlns:a16="http://schemas.microsoft.com/office/drawing/2014/main" id="{03BE1F29-6B3F-9E0B-8168-38BE4554584D}"/>
              </a:ext>
            </a:extLst>
          </p:cNvPr>
          <p:cNvSpPr txBox="1"/>
          <p:nvPr/>
        </p:nvSpPr>
        <p:spPr>
          <a:xfrm>
            <a:off x="6399015" y="1264268"/>
            <a:ext cx="2921056" cy="369332"/>
          </a:xfrm>
          <a:prstGeom prst="rect">
            <a:avLst/>
          </a:prstGeom>
          <a:noFill/>
        </p:spPr>
        <p:txBody>
          <a:bodyPr wrap="none" rtlCol="0">
            <a:spAutoFit/>
          </a:bodyPr>
          <a:lstStyle/>
          <a:p>
            <a:pPr algn="ctr"/>
            <a:r>
              <a:rPr lang="en-US" dirty="0"/>
              <a:t>Seller Type vs Selling Price</a:t>
            </a:r>
          </a:p>
        </p:txBody>
      </p:sp>
      <p:pic>
        <p:nvPicPr>
          <p:cNvPr id="6" name="Picture 5" descr="The graph illustrates the average selling prices for various fuel types, with diesel being the most expensive at Rs 35 Lakhs and petrol being the cheapest at Rs 10 Lakhs.&#10;&#10;AI-generated content may be incorrect.">
            <a:extLst>
              <a:ext uri="{FF2B5EF4-FFF2-40B4-BE49-F238E27FC236}">
                <a16:creationId xmlns:a16="http://schemas.microsoft.com/office/drawing/2014/main" id="{2B9CDDC4-75E5-B16A-C50C-ECB0D69DD0FB}"/>
              </a:ext>
            </a:extLst>
          </p:cNvPr>
          <p:cNvPicPr>
            <a:picLocks noChangeAspect="1"/>
          </p:cNvPicPr>
          <p:nvPr/>
        </p:nvPicPr>
        <p:blipFill>
          <a:blip r:embed="rId4"/>
          <a:stretch>
            <a:fillRect/>
          </a:stretch>
        </p:blipFill>
        <p:spPr>
          <a:xfrm>
            <a:off x="595223" y="1895211"/>
            <a:ext cx="4106447" cy="2689964"/>
          </a:xfrm>
          <a:prstGeom prst="rect">
            <a:avLst/>
          </a:prstGeom>
        </p:spPr>
      </p:pic>
      <p:pic>
        <p:nvPicPr>
          <p:cNvPr id="12" name="Picture 11" descr="The diagram illustrates a distribution of selling prices categorized by different types of sellers, with 'Dealer' and 'Individual' being two distinct categories.&#10;&#10;AI-generated content may be incorrect.">
            <a:extLst>
              <a:ext uri="{FF2B5EF4-FFF2-40B4-BE49-F238E27FC236}">
                <a16:creationId xmlns:a16="http://schemas.microsoft.com/office/drawing/2014/main" id="{4A4AF46F-BA26-8978-13CF-6D081CBA33B7}"/>
              </a:ext>
            </a:extLst>
          </p:cNvPr>
          <p:cNvPicPr>
            <a:picLocks noChangeAspect="1"/>
          </p:cNvPicPr>
          <p:nvPr/>
        </p:nvPicPr>
        <p:blipFill>
          <a:blip r:embed="rId5"/>
          <a:stretch>
            <a:fillRect/>
          </a:stretch>
        </p:blipFill>
        <p:spPr>
          <a:xfrm>
            <a:off x="5495012" y="1707386"/>
            <a:ext cx="4117580" cy="2837618"/>
          </a:xfrm>
          <a:prstGeom prst="rect">
            <a:avLst/>
          </a:prstGeom>
        </p:spPr>
      </p:pic>
      <p:sp>
        <p:nvSpPr>
          <p:cNvPr id="13" name="TextBox 12">
            <a:extLst>
              <a:ext uri="{FF2B5EF4-FFF2-40B4-BE49-F238E27FC236}">
                <a16:creationId xmlns:a16="http://schemas.microsoft.com/office/drawing/2014/main" id="{83459B71-7519-B31B-6BA4-4717CBD516AF}"/>
              </a:ext>
            </a:extLst>
          </p:cNvPr>
          <p:cNvSpPr txBox="1"/>
          <p:nvPr/>
        </p:nvSpPr>
        <p:spPr>
          <a:xfrm>
            <a:off x="895391" y="4899699"/>
            <a:ext cx="3847381" cy="523220"/>
          </a:xfrm>
          <a:prstGeom prst="rect">
            <a:avLst/>
          </a:prstGeom>
          <a:noFill/>
        </p:spPr>
        <p:txBody>
          <a:bodyPr wrap="square" rtlCol="0">
            <a:spAutoFit/>
          </a:bodyPr>
          <a:lstStyle/>
          <a:p>
            <a:pPr algn="just"/>
            <a:r>
              <a:rPr lang="en-US" sz="1400" dirty="0"/>
              <a:t>Diesel cars have the highest average selling price (</a:t>
            </a:r>
            <a:r>
              <a:rPr lang="en-US" sz="1400" b="1" dirty="0"/>
              <a:t>10.10 lakhs</a:t>
            </a:r>
            <a:r>
              <a:rPr lang="en-US" sz="1400" dirty="0"/>
              <a:t>).</a:t>
            </a:r>
          </a:p>
        </p:txBody>
      </p:sp>
      <p:sp>
        <p:nvSpPr>
          <p:cNvPr id="14" name="TextBox 13">
            <a:extLst>
              <a:ext uri="{FF2B5EF4-FFF2-40B4-BE49-F238E27FC236}">
                <a16:creationId xmlns:a16="http://schemas.microsoft.com/office/drawing/2014/main" id="{A7B8DC50-50A7-96A4-2980-9404A26C0CF5}"/>
              </a:ext>
            </a:extLst>
          </p:cNvPr>
          <p:cNvSpPr txBox="1"/>
          <p:nvPr/>
        </p:nvSpPr>
        <p:spPr>
          <a:xfrm>
            <a:off x="5935852" y="4684255"/>
            <a:ext cx="3847381" cy="738664"/>
          </a:xfrm>
          <a:prstGeom prst="rect">
            <a:avLst/>
          </a:prstGeom>
          <a:noFill/>
        </p:spPr>
        <p:txBody>
          <a:bodyPr wrap="square" rtlCol="0">
            <a:spAutoFit/>
          </a:bodyPr>
          <a:lstStyle/>
          <a:p>
            <a:pPr algn="just"/>
            <a:r>
              <a:rPr lang="en-US" sz="1400" dirty="0"/>
              <a:t>Dealer-sold cars have a higher average selling price (</a:t>
            </a:r>
            <a:r>
              <a:rPr lang="en-US" sz="1400" b="1" dirty="0"/>
              <a:t>6.63 lakhs</a:t>
            </a:r>
            <a:r>
              <a:rPr lang="en-US" sz="1400" dirty="0"/>
              <a:t>) than individually sold cars (</a:t>
            </a:r>
            <a:r>
              <a:rPr lang="en-US" sz="1400" b="1" dirty="0"/>
              <a:t>0.87 lakhs</a:t>
            </a:r>
            <a:r>
              <a:rPr lang="en-US" sz="1400" dirty="0"/>
              <a:t>).</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10038051" cy="830997"/>
          </a:xfrm>
        </p:spPr>
        <p:txBody>
          <a:bodyPr>
            <a:normAutofit fontScale="90000"/>
          </a:bodyPr>
          <a:lstStyle/>
          <a:p>
            <a:r>
              <a:rPr lang="en-GB" dirty="0"/>
              <a:t>RESULTS - </a:t>
            </a:r>
            <a:r>
              <a:rPr lang="en-US" dirty="0"/>
              <a:t>Transmission &amp; Correlation</a:t>
            </a:r>
            <a:r>
              <a:rPr lang="en-GB" dirty="0"/>
              <a:t> </a:t>
            </a:r>
            <a:endParaRPr lang="en-IN"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8EDA220-A275-5502-87A0-957B48A3A704}"/>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CFB62D69-D3C1-33D1-D4B8-FA0DCE570AA7}"/>
              </a:ext>
            </a:extLst>
          </p:cNvPr>
          <p:cNvSpPr>
            <a:spLocks noGrp="1"/>
          </p:cNvSpPr>
          <p:nvPr>
            <p:ph type="body" sz="quarter" idx="12"/>
          </p:nvPr>
        </p:nvSpPr>
        <p:spPr>
          <a:xfrm>
            <a:off x="833043" y="1301121"/>
            <a:ext cx="3652693" cy="477520"/>
          </a:xfrm>
        </p:spPr>
        <p:txBody>
          <a:bodyPr>
            <a:normAutofit/>
          </a:bodyPr>
          <a:lstStyle/>
          <a:p>
            <a:pPr marL="0" indent="0" algn="ctr">
              <a:buNone/>
            </a:pPr>
            <a:r>
              <a:rPr lang="en-US" sz="1800" dirty="0"/>
              <a:t>Selling Price by Transmission</a:t>
            </a:r>
            <a:endParaRPr lang="en-IN" sz="1800" dirty="0"/>
          </a:p>
        </p:txBody>
      </p:sp>
      <p:sp>
        <p:nvSpPr>
          <p:cNvPr id="2" name="TextBox 1">
            <a:extLst>
              <a:ext uri="{FF2B5EF4-FFF2-40B4-BE49-F238E27FC236}">
                <a16:creationId xmlns:a16="http://schemas.microsoft.com/office/drawing/2014/main" id="{7032BF0B-FA85-E96E-C25A-59CF784D56D4}"/>
              </a:ext>
            </a:extLst>
          </p:cNvPr>
          <p:cNvSpPr txBox="1"/>
          <p:nvPr/>
        </p:nvSpPr>
        <p:spPr>
          <a:xfrm>
            <a:off x="5960853" y="1255757"/>
            <a:ext cx="3042763" cy="369332"/>
          </a:xfrm>
          <a:prstGeom prst="rect">
            <a:avLst/>
          </a:prstGeom>
          <a:noFill/>
        </p:spPr>
        <p:txBody>
          <a:bodyPr wrap="square" rtlCol="0">
            <a:spAutoFit/>
          </a:bodyPr>
          <a:lstStyle/>
          <a:p>
            <a:pPr algn="ctr"/>
            <a:r>
              <a:rPr lang="en-US" dirty="0"/>
              <a:t>Correlation Heatmap</a:t>
            </a:r>
          </a:p>
        </p:txBody>
      </p:sp>
      <p:pic>
        <p:nvPicPr>
          <p:cNvPr id="6" name="Picture 5" descr="The correlation heatmap illustrates the relationships among various factors like year, present price, selling price, and km driven for car market variables.&#10;&#10;AI-generated content may be incorrect.">
            <a:extLst>
              <a:ext uri="{FF2B5EF4-FFF2-40B4-BE49-F238E27FC236}">
                <a16:creationId xmlns:a16="http://schemas.microsoft.com/office/drawing/2014/main" id="{A67B6DB4-1424-75E8-1A84-3A1D2A74CB4A}"/>
              </a:ext>
            </a:extLst>
          </p:cNvPr>
          <p:cNvPicPr>
            <a:picLocks noChangeAspect="1"/>
          </p:cNvPicPr>
          <p:nvPr/>
        </p:nvPicPr>
        <p:blipFill>
          <a:blip r:embed="rId4"/>
          <a:stretch>
            <a:fillRect/>
          </a:stretch>
        </p:blipFill>
        <p:spPr>
          <a:xfrm>
            <a:off x="5710687" y="1660168"/>
            <a:ext cx="3856007" cy="2762183"/>
          </a:xfrm>
          <a:prstGeom prst="rect">
            <a:avLst/>
          </a:prstGeom>
        </p:spPr>
      </p:pic>
      <p:pic>
        <p:nvPicPr>
          <p:cNvPr id="12" name="Picture 11" descr="The graph displays the average selling prices for cars with manual and automatic transmissions, with manual transmissions priced higher than automatic ones.&#10;&#10;AI-generated content may be incorrect.">
            <a:extLst>
              <a:ext uri="{FF2B5EF4-FFF2-40B4-BE49-F238E27FC236}">
                <a16:creationId xmlns:a16="http://schemas.microsoft.com/office/drawing/2014/main" id="{47E52970-53E5-3532-22F6-357931AEB931}"/>
              </a:ext>
            </a:extLst>
          </p:cNvPr>
          <p:cNvPicPr>
            <a:picLocks noChangeAspect="1"/>
          </p:cNvPicPr>
          <p:nvPr/>
        </p:nvPicPr>
        <p:blipFill>
          <a:blip r:embed="rId5"/>
          <a:stretch>
            <a:fillRect/>
          </a:stretch>
        </p:blipFill>
        <p:spPr>
          <a:xfrm>
            <a:off x="320982" y="1660168"/>
            <a:ext cx="4286419" cy="2658665"/>
          </a:xfrm>
          <a:prstGeom prst="rect">
            <a:avLst/>
          </a:prstGeom>
        </p:spPr>
      </p:pic>
      <p:sp>
        <p:nvSpPr>
          <p:cNvPr id="13" name="TextBox 12">
            <a:extLst>
              <a:ext uri="{FF2B5EF4-FFF2-40B4-BE49-F238E27FC236}">
                <a16:creationId xmlns:a16="http://schemas.microsoft.com/office/drawing/2014/main" id="{C3B27645-155C-EE3B-6075-D24B58201020}"/>
              </a:ext>
            </a:extLst>
          </p:cNvPr>
          <p:cNvSpPr txBox="1"/>
          <p:nvPr/>
        </p:nvSpPr>
        <p:spPr>
          <a:xfrm>
            <a:off x="422960" y="4735902"/>
            <a:ext cx="4184442" cy="923330"/>
          </a:xfrm>
          <a:prstGeom prst="rect">
            <a:avLst/>
          </a:prstGeom>
          <a:noFill/>
        </p:spPr>
        <p:txBody>
          <a:bodyPr wrap="square" rtlCol="0">
            <a:spAutoFit/>
          </a:bodyPr>
          <a:lstStyle/>
          <a:p>
            <a:r>
              <a:rPr lang="en-US" dirty="0"/>
              <a:t>Automatic cars have a higher average selling price (9.07 lakhs) than manual cars (3.92 lakhs).</a:t>
            </a:r>
          </a:p>
        </p:txBody>
      </p:sp>
      <p:sp>
        <p:nvSpPr>
          <p:cNvPr id="14" name="TextBox 13">
            <a:extLst>
              <a:ext uri="{FF2B5EF4-FFF2-40B4-BE49-F238E27FC236}">
                <a16:creationId xmlns:a16="http://schemas.microsoft.com/office/drawing/2014/main" id="{A78A19DE-EECC-57F7-1039-A9FAF8244BB6}"/>
              </a:ext>
            </a:extLst>
          </p:cNvPr>
          <p:cNvSpPr txBox="1"/>
          <p:nvPr/>
        </p:nvSpPr>
        <p:spPr>
          <a:xfrm>
            <a:off x="5710687" y="4735902"/>
            <a:ext cx="3699550" cy="830997"/>
          </a:xfrm>
          <a:prstGeom prst="rect">
            <a:avLst/>
          </a:prstGeom>
          <a:noFill/>
        </p:spPr>
        <p:txBody>
          <a:bodyPr wrap="square" rtlCol="0">
            <a:spAutoFit/>
          </a:bodyPr>
          <a:lstStyle/>
          <a:p>
            <a:r>
              <a:rPr lang="en-US" sz="1600" dirty="0"/>
              <a:t> Present Price has the strongest positive relationship with Selling Price (correlation = 0.876).       </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C115B-9F5D-86A3-F823-34936A10100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27E2591-ED62-D6AE-A49A-D3F50E51350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07B8ACA-5F14-8869-1121-C27650CB4DDB}"/>
              </a:ext>
            </a:extLst>
          </p:cNvPr>
          <p:cNvSpPr>
            <a:spLocks noGrp="1"/>
          </p:cNvSpPr>
          <p:nvPr>
            <p:ph type="title"/>
          </p:nvPr>
        </p:nvSpPr>
        <p:spPr>
          <a:xfrm>
            <a:off x="675957" y="370589"/>
            <a:ext cx="8304141" cy="830997"/>
          </a:xfrm>
        </p:spPr>
        <p:txBody>
          <a:bodyPr>
            <a:normAutofit fontScale="90000"/>
          </a:bodyPr>
          <a:lstStyle/>
          <a:p>
            <a:r>
              <a:rPr lang="en-GB" dirty="0"/>
              <a:t>RESULTS - </a:t>
            </a:r>
            <a:r>
              <a:rPr lang="en-US" dirty="0"/>
              <a:t>Additional Analysis</a:t>
            </a:r>
            <a:endParaRPr lang="en-IN" dirty="0"/>
          </a:p>
        </p:txBody>
      </p:sp>
      <p:sp>
        <p:nvSpPr>
          <p:cNvPr id="7" name="Text Placeholder 30">
            <a:extLst>
              <a:ext uri="{FF2B5EF4-FFF2-40B4-BE49-F238E27FC236}">
                <a16:creationId xmlns:a16="http://schemas.microsoft.com/office/drawing/2014/main" id="{251E6660-5D14-6BCA-D335-9744DBE267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7B16F7C-D9B4-9474-7984-0977DE9CDEF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CD411F8F-1814-6310-7498-36518E3C34A5}"/>
              </a:ext>
            </a:extLst>
          </p:cNvPr>
          <p:cNvSpPr txBox="1">
            <a:spLocks/>
          </p:cNvSpPr>
          <p:nvPr/>
        </p:nvSpPr>
        <p:spPr>
          <a:xfrm>
            <a:off x="422959" y="5641961"/>
            <a:ext cx="2143125" cy="1022999"/>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6F0F9F12-13D4-A9B2-CB79-8923E78422FF}"/>
              </a:ext>
            </a:extLst>
          </p:cNvPr>
          <p:cNvSpPr>
            <a:spLocks noGrp="1"/>
          </p:cNvSpPr>
          <p:nvPr>
            <p:ph type="body" sz="quarter" idx="12"/>
          </p:nvPr>
        </p:nvSpPr>
        <p:spPr>
          <a:xfrm>
            <a:off x="833043" y="1301121"/>
            <a:ext cx="3652693" cy="477520"/>
          </a:xfrm>
        </p:spPr>
        <p:txBody>
          <a:bodyPr>
            <a:normAutofit fontScale="92500"/>
          </a:bodyPr>
          <a:lstStyle/>
          <a:p>
            <a:pPr marL="0" indent="0" algn="ctr">
              <a:buNone/>
            </a:pPr>
            <a:r>
              <a:rPr lang="en-US" sz="1800" dirty="0"/>
              <a:t>Manufacturing Year vs Selling Price</a:t>
            </a:r>
            <a:endParaRPr lang="en-IN" sz="1800" dirty="0"/>
          </a:p>
        </p:txBody>
      </p:sp>
      <p:sp>
        <p:nvSpPr>
          <p:cNvPr id="2" name="TextBox 1">
            <a:extLst>
              <a:ext uri="{FF2B5EF4-FFF2-40B4-BE49-F238E27FC236}">
                <a16:creationId xmlns:a16="http://schemas.microsoft.com/office/drawing/2014/main" id="{98A25DF2-305F-5A51-9790-FFB0FBB656A8}"/>
              </a:ext>
            </a:extLst>
          </p:cNvPr>
          <p:cNvSpPr txBox="1"/>
          <p:nvPr/>
        </p:nvSpPr>
        <p:spPr>
          <a:xfrm>
            <a:off x="5960853" y="1255757"/>
            <a:ext cx="4433977" cy="369332"/>
          </a:xfrm>
          <a:prstGeom prst="rect">
            <a:avLst/>
          </a:prstGeom>
          <a:noFill/>
        </p:spPr>
        <p:txBody>
          <a:bodyPr wrap="square" rtlCol="0">
            <a:spAutoFit/>
          </a:bodyPr>
          <a:lstStyle/>
          <a:p>
            <a:pPr algn="ctr"/>
            <a:r>
              <a:rPr lang="en-US" dirty="0"/>
              <a:t>Kilometers Driven vs Selling Price</a:t>
            </a:r>
          </a:p>
        </p:txBody>
      </p:sp>
      <p:sp>
        <p:nvSpPr>
          <p:cNvPr id="13" name="TextBox 12">
            <a:extLst>
              <a:ext uri="{FF2B5EF4-FFF2-40B4-BE49-F238E27FC236}">
                <a16:creationId xmlns:a16="http://schemas.microsoft.com/office/drawing/2014/main" id="{EDEB43B6-28CC-DD4F-AD55-29865FFF5D17}"/>
              </a:ext>
            </a:extLst>
          </p:cNvPr>
          <p:cNvSpPr txBox="1"/>
          <p:nvPr/>
        </p:nvSpPr>
        <p:spPr>
          <a:xfrm>
            <a:off x="949172" y="4518732"/>
            <a:ext cx="4184442" cy="923330"/>
          </a:xfrm>
          <a:prstGeom prst="rect">
            <a:avLst/>
          </a:prstGeom>
          <a:noFill/>
        </p:spPr>
        <p:txBody>
          <a:bodyPr wrap="square" rtlCol="0">
            <a:spAutoFit/>
          </a:bodyPr>
          <a:lstStyle/>
          <a:p>
            <a:r>
              <a:rPr lang="en-US" dirty="0"/>
              <a:t>Newer vehicles generally tend to have higher selling prices than older vehicles.</a:t>
            </a:r>
          </a:p>
        </p:txBody>
      </p:sp>
      <p:sp>
        <p:nvSpPr>
          <p:cNvPr id="14" name="TextBox 13">
            <a:extLst>
              <a:ext uri="{FF2B5EF4-FFF2-40B4-BE49-F238E27FC236}">
                <a16:creationId xmlns:a16="http://schemas.microsoft.com/office/drawing/2014/main" id="{E2208ECF-5D4B-F214-C7C8-58666CE9956B}"/>
              </a:ext>
            </a:extLst>
          </p:cNvPr>
          <p:cNvSpPr txBox="1"/>
          <p:nvPr/>
        </p:nvSpPr>
        <p:spPr>
          <a:xfrm>
            <a:off x="5710687" y="4509189"/>
            <a:ext cx="4605774" cy="646331"/>
          </a:xfrm>
          <a:prstGeom prst="rect">
            <a:avLst/>
          </a:prstGeom>
          <a:noFill/>
        </p:spPr>
        <p:txBody>
          <a:bodyPr wrap="square" rtlCol="0">
            <a:spAutoFit/>
          </a:bodyPr>
          <a:lstStyle/>
          <a:p>
            <a:r>
              <a:rPr lang="en-US" dirty="0"/>
              <a:t>Kms Driven has a very weak relationship with Selling Price (correlation = 0.029).</a:t>
            </a:r>
          </a:p>
        </p:txBody>
      </p:sp>
      <p:pic>
        <p:nvPicPr>
          <p:cNvPr id="11" name="Picture 10">
            <a:extLst>
              <a:ext uri="{FF2B5EF4-FFF2-40B4-BE49-F238E27FC236}">
                <a16:creationId xmlns:a16="http://schemas.microsoft.com/office/drawing/2014/main" id="{AD6A4AE5-3501-FD3A-E9CC-FBB2F9C4EBD4}"/>
              </a:ext>
            </a:extLst>
          </p:cNvPr>
          <p:cNvPicPr>
            <a:picLocks noChangeAspect="1"/>
          </p:cNvPicPr>
          <p:nvPr/>
        </p:nvPicPr>
        <p:blipFill>
          <a:blip r:embed="rId4"/>
          <a:stretch>
            <a:fillRect/>
          </a:stretch>
        </p:blipFill>
        <p:spPr>
          <a:xfrm>
            <a:off x="675872" y="1660168"/>
            <a:ext cx="4286419" cy="2658665"/>
          </a:xfrm>
          <a:prstGeom prst="rect">
            <a:avLst/>
          </a:prstGeom>
        </p:spPr>
      </p:pic>
      <p:pic>
        <p:nvPicPr>
          <p:cNvPr id="16" name="Picture 15">
            <a:extLst>
              <a:ext uri="{FF2B5EF4-FFF2-40B4-BE49-F238E27FC236}">
                <a16:creationId xmlns:a16="http://schemas.microsoft.com/office/drawing/2014/main" id="{D609E9FA-7F65-BECF-61EF-299275AAD067}"/>
              </a:ext>
            </a:extLst>
          </p:cNvPr>
          <p:cNvPicPr>
            <a:picLocks noChangeAspect="1"/>
          </p:cNvPicPr>
          <p:nvPr/>
        </p:nvPicPr>
        <p:blipFill>
          <a:blip r:embed="rId5"/>
          <a:stretch>
            <a:fillRect/>
          </a:stretch>
        </p:blipFill>
        <p:spPr>
          <a:xfrm>
            <a:off x="5779698" y="1660168"/>
            <a:ext cx="4536763" cy="2813942"/>
          </a:xfrm>
          <a:prstGeom prst="rect">
            <a:avLst/>
          </a:prstGeom>
        </p:spPr>
      </p:pic>
    </p:spTree>
    <p:extLst>
      <p:ext uri="{BB962C8B-B14F-4D97-AF65-F5344CB8AC3E}">
        <p14:creationId xmlns:p14="http://schemas.microsoft.com/office/powerpoint/2010/main" val="240618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723</TotalTime>
  <Words>428</Words>
  <Application>Microsoft Office PowerPoint</Application>
  <PresentationFormat>Widescreen</PresentationFormat>
  <Paragraphs>52</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 Display</vt:lpstr>
      <vt:lpstr>Arial</vt:lpstr>
      <vt:lpstr>Calibri</vt:lpstr>
      <vt:lpstr>Trebuchet MS</vt:lpstr>
      <vt:lpstr>Wingdings</vt:lpstr>
      <vt:lpstr>Wingdings 3</vt:lpstr>
      <vt:lpstr>Facet</vt:lpstr>
      <vt:lpstr>Project Title - Car Market Analysis</vt:lpstr>
      <vt:lpstr>PROBLEM  STATEMENT</vt:lpstr>
      <vt:lpstr>Project Description  </vt:lpstr>
      <vt:lpstr>WHO ARE THE END USERS?</vt:lpstr>
      <vt:lpstr>Technology Used</vt:lpstr>
      <vt:lpstr>RESULTS – PRICE ANALYSIS</vt:lpstr>
      <vt:lpstr>RESULTS - Fuel &amp; Seller Analysis </vt:lpstr>
      <vt:lpstr>RESULTS - Transmission &amp; Correlation </vt:lpstr>
      <vt:lpstr>RESULTS - Additional Analysis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navya chitturi</cp:lastModifiedBy>
  <cp:revision>79</cp:revision>
  <dcterms:created xsi:type="dcterms:W3CDTF">2021-07-11T13:13:15Z</dcterms:created>
  <dcterms:modified xsi:type="dcterms:W3CDTF">2026-08-29T08:29:06Z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